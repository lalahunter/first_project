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92420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292420"/>
                </a:solidFill>
                <a:latin typeface="Calibri"/>
              </a:rPr>
              <a:t>Average Reviews by Property Type (≥10 listings)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reviews</c:v>
                </c:pt>
              </c:strCache>
            </c:strRef>
          </c:tx>
          <c:spPr>
            <a:solidFill>
              <a:srgbClr val="B8563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065-4578-AC09-CD95DAA8ED9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065-4578-AC09-CD95DAA8ED90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3065-4578-AC09-CD95DAA8ED90}"/>
              </c:ext>
            </c:extLst>
          </c:dPt>
          <c:dPt>
            <c:idx val="3"/>
            <c:invertIfNegative val="0"/>
            <c:bubble3D val="0"/>
            <c:spPr>
              <a:solidFill>
                <a:srgbClr val="D9D2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065-4578-AC09-CD95DAA8ED90}"/>
              </c:ext>
            </c:extLst>
          </c:dPt>
          <c:dPt>
            <c:idx val="4"/>
            <c:invertIfNegative val="0"/>
            <c:bubble3D val="0"/>
            <c:spPr>
              <a:solidFill>
                <a:srgbClr val="D9D2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065-4578-AC09-CD95DAA8ED9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92420"/>
                    </a:solidFill>
                    <a:latin typeface="Calibri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Guesthouse</c:v>
                </c:pt>
                <c:pt idx="1">
                  <c:v>Dome</c:v>
                </c:pt>
                <c:pt idx="2">
                  <c:v>Guest suite</c:v>
                </c:pt>
                <c:pt idx="3">
                  <c:v>Apartment</c:v>
                </c:pt>
                <c:pt idx="4">
                  <c:v>Home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412.5</c:v>
                </c:pt>
                <c:pt idx="1">
                  <c:v>372.2</c:v>
                </c:pt>
                <c:pt idx="2">
                  <c:v>328</c:v>
                </c:pt>
                <c:pt idx="3">
                  <c:v>207.6</c:v>
                </c:pt>
                <c:pt idx="4">
                  <c:v>159.1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065-4578-AC09-CD95DAA8ED9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92420"/>
                </a:solidFill>
                <a:latin typeface="Calibri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FEA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C8078"/>
                </a:solidFill>
                <a:latin typeface="Calibri"/>
              </a:defRPr>
            </a:pPr>
            <a:endParaRPr lang="es-CO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DCD3C8"/>
          </a:solidFill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92420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292420"/>
                </a:solidFill>
                <a:latin typeface="Calibri"/>
              </a:rPr>
              <a:t>Average Airbnb Price by City ($)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price</c:v>
                </c:pt>
              </c:strCache>
            </c:strRef>
          </c:tx>
          <c:spPr>
            <a:solidFill>
              <a:srgbClr val="8C807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C807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E35-4CAF-9713-B524DD8C6D1A}"/>
              </c:ext>
            </c:extLst>
          </c:dPt>
          <c:dPt>
            <c:idx val="1"/>
            <c:invertIfNegative val="0"/>
            <c:bubble3D val="0"/>
            <c:spPr>
              <a:solidFill>
                <a:srgbClr val="8C807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E35-4CAF-9713-B524DD8C6D1A}"/>
              </c:ext>
            </c:extLst>
          </c:dPt>
          <c:dPt>
            <c:idx val="2"/>
            <c:invertIfNegative val="0"/>
            <c:bubble3D val="0"/>
            <c:spPr>
              <a:solidFill>
                <a:srgbClr val="8C807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E35-4CAF-9713-B524DD8C6D1A}"/>
              </c:ext>
            </c:extLst>
          </c:dPt>
          <c:dPt>
            <c:idx val="3"/>
            <c:invertIfNegative val="0"/>
            <c:bubble3D val="0"/>
            <c:spPr>
              <a:solidFill>
                <a:srgbClr val="8C807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E35-4CAF-9713-B524DD8C6D1A}"/>
              </c:ext>
            </c:extLst>
          </c:dPt>
          <c:dPt>
            <c:idx val="4"/>
            <c:invertIfNegative val="0"/>
            <c:bubble3D val="0"/>
            <c:spPr>
              <a:solidFill>
                <a:srgbClr val="B856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E35-4CAF-9713-B524DD8C6D1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92420"/>
                    </a:solidFill>
                    <a:latin typeface="Calibri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Miami</c:v>
                </c:pt>
                <c:pt idx="1">
                  <c:v>Marion</c:v>
                </c:pt>
                <c:pt idx="2">
                  <c:v>Vero Beach</c:v>
                </c:pt>
                <c:pt idx="3">
                  <c:v>Oceanside</c:v>
                </c:pt>
                <c:pt idx="4">
                  <c:v>Malibu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248</c:v>
                </c:pt>
                <c:pt idx="1">
                  <c:v>257</c:v>
                </c:pt>
                <c:pt idx="2">
                  <c:v>290</c:v>
                </c:pt>
                <c:pt idx="3">
                  <c:v>342</c:v>
                </c:pt>
                <c:pt idx="4">
                  <c:v>465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E35-4CAF-9713-B524DD8C6D1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292420"/>
                </a:solidFill>
                <a:latin typeface="Calibri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FEA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C8078"/>
                </a:solidFill>
                <a:latin typeface="Calibri"/>
              </a:defRPr>
            </a:pPr>
            <a:endParaRPr lang="es-CO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042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-365760"/>
            <a:ext cx="4297680" cy="7589520"/>
          </a:xfrm>
          <a:prstGeom prst="parallelogram">
            <a:avLst/>
          </a:prstGeom>
          <a:solidFill>
            <a:srgbClr val="B8563B"/>
          </a:solidFill>
          <a:ln/>
        </p:spPr>
      </p:sp>
      <p:sp>
        <p:nvSpPr>
          <p:cNvPr id="3" name="Shape 1"/>
          <p:cNvSpPr/>
          <p:nvPr/>
        </p:nvSpPr>
        <p:spPr>
          <a:xfrm rot="5400000">
            <a:off x="8366760" y="4892040"/>
            <a:ext cx="1920240" cy="1920240"/>
          </a:xfrm>
          <a:prstGeom prst="triangle">
            <a:avLst/>
          </a:prstGeom>
          <a:solidFill>
            <a:srgbClr val="4F7A6E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6400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MARKET ANALYSIS  ·  INVESTOR PITCH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228600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29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 Stays Curator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94360" y="342900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C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investor controls the capital. He wants one answer: where does it work hardest?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C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62636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9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Angélica Roa   ·   Kseniia Lukhlina   ·   Lara Caçador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143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B85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9692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b="1" i="1" dirty="0">
                <a:solidFill>
                  <a:srgbClr val="29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have the capital. I don't have time to guess. Show me exactly where a short-term rental makes the most money — and why.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C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Our client, a private real-estate investor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94360" y="3840480"/>
            <a:ext cx="11064240" cy="0"/>
          </a:xfrm>
          <a:prstGeom prst="line">
            <a:avLst/>
          </a:prstGeom>
          <a:noFill/>
          <a:ln w="12700">
            <a:solidFill>
              <a:srgbClr val="DC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4069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9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questions, one recommendation.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94360" y="45262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85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94360" y="49834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9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property type deserves the investment?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0" y="45262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389120" y="49834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9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market can back that up with real numbers?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83880" y="45262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D7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183880" y="49834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9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he look next?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55280" y="6309360"/>
            <a:ext cx="457200" cy="228600"/>
          </a:xfrm>
          <a:prstGeom prst="rect">
            <a:avLst/>
          </a:prstGeom>
          <a:solidFill>
            <a:srgbClr val="8C8078"/>
          </a:solidFill>
          <a:ln/>
        </p:spPr>
      </p:sp>
      <p:sp>
        <p:nvSpPr>
          <p:cNvPr id="15" name="Shape 13"/>
          <p:cNvSpPr/>
          <p:nvPr/>
        </p:nvSpPr>
        <p:spPr>
          <a:xfrm>
            <a:off x="8467344" y="6080760"/>
            <a:ext cx="320040" cy="457200"/>
          </a:xfrm>
          <a:prstGeom prst="rect">
            <a:avLst/>
          </a:prstGeom>
          <a:solidFill>
            <a:srgbClr val="4F7A6E"/>
          </a:solidFill>
          <a:ln/>
        </p:spPr>
      </p:sp>
      <p:sp>
        <p:nvSpPr>
          <p:cNvPr id="16" name="Shape 14"/>
          <p:cNvSpPr/>
          <p:nvPr/>
        </p:nvSpPr>
        <p:spPr>
          <a:xfrm>
            <a:off x="8842248" y="6245352"/>
            <a:ext cx="548640" cy="292608"/>
          </a:xfrm>
          <a:prstGeom prst="rect">
            <a:avLst/>
          </a:prstGeom>
          <a:solidFill>
            <a:srgbClr val="8C8078"/>
          </a:solidFill>
          <a:ln/>
        </p:spPr>
      </p:sp>
      <p:sp>
        <p:nvSpPr>
          <p:cNvPr id="17" name="Shape 15"/>
          <p:cNvSpPr/>
          <p:nvPr/>
        </p:nvSpPr>
        <p:spPr>
          <a:xfrm>
            <a:off x="9445752" y="5971032"/>
            <a:ext cx="365760" cy="566928"/>
          </a:xfrm>
          <a:prstGeom prst="rect">
            <a:avLst/>
          </a:prstGeom>
          <a:solidFill>
            <a:srgbClr val="B8563B"/>
          </a:solidFill>
          <a:ln/>
        </p:spPr>
      </p:sp>
      <p:sp>
        <p:nvSpPr>
          <p:cNvPr id="18" name="Shape 16"/>
          <p:cNvSpPr/>
          <p:nvPr/>
        </p:nvSpPr>
        <p:spPr>
          <a:xfrm>
            <a:off x="9866376" y="6172200"/>
            <a:ext cx="274320" cy="365760"/>
          </a:xfrm>
          <a:prstGeom prst="rect">
            <a:avLst/>
          </a:prstGeom>
          <a:solidFill>
            <a:srgbClr val="AD7A28"/>
          </a:solidFill>
          <a:ln/>
        </p:spPr>
      </p:sp>
      <p:sp>
        <p:nvSpPr>
          <p:cNvPr id="19" name="Shape 17"/>
          <p:cNvSpPr/>
          <p:nvPr/>
        </p:nvSpPr>
        <p:spPr>
          <a:xfrm>
            <a:off x="10195560" y="6281928"/>
            <a:ext cx="502920" cy="256032"/>
          </a:xfrm>
          <a:prstGeom prst="rect">
            <a:avLst/>
          </a:prstGeom>
          <a:solidFill>
            <a:srgbClr val="8C8078"/>
          </a:solidFill>
          <a:ln/>
        </p:spPr>
      </p:sp>
      <p:sp>
        <p:nvSpPr>
          <p:cNvPr id="20" name="Shape 18"/>
          <p:cNvSpPr/>
          <p:nvPr/>
        </p:nvSpPr>
        <p:spPr>
          <a:xfrm>
            <a:off x="10753344" y="6035040"/>
            <a:ext cx="365760" cy="502920"/>
          </a:xfrm>
          <a:prstGeom prst="rect">
            <a:avLst/>
          </a:prstGeom>
          <a:solidFill>
            <a:srgbClr val="4F7A6E"/>
          </a:solidFill>
          <a:ln/>
        </p:spPr>
      </p:sp>
      <p:sp>
        <p:nvSpPr>
          <p:cNvPr id="21" name="Shape 19"/>
          <p:cNvSpPr/>
          <p:nvPr/>
        </p:nvSpPr>
        <p:spPr>
          <a:xfrm>
            <a:off x="11173968" y="6217920"/>
            <a:ext cx="320040" cy="320040"/>
          </a:xfrm>
          <a:prstGeom prst="rect">
            <a:avLst/>
          </a:prstGeom>
          <a:solidFill>
            <a:srgbClr val="8C8078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9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the Numbers: Cleaning the Raw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85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nulls, duplicates, and untangling the title field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94360" y="17830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5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80160" y="17830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Checked nulls &amp; duplicates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80160" y="216712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missing ratings and prices; dropped exact duplicate rows before anything else.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8346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80160" y="28346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Extracted location from the title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80160" y="321868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rows like “Chalet in Skykomish” were split into structured type + location fields.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4114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8C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THAT LOOKED LIKE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434840"/>
          <a:ext cx="8229600" cy="1536192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title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Chalet in Skykomish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Skykomish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Guesthouse in Key Largo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Guesthouse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Largo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in Blue Ridge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 Ridge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9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the Numbers: Mapping the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85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matching states to countries, then plotting listings geographically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94360" y="187452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AD7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108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594360" y="2788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8C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MAPPED U.S. LOCATIONS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94360" y="41605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D7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4160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Filled in missing countries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45262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U.S. states to “US” where country was blank in the source data.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50749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C80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80160" y="50749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Started geo-mapping the listings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54406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early exploration into visualizing listings on a map — picked back up as a Phase 2 tool later in this deck.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6172200"/>
            <a:ext cx="11064240" cy="0"/>
          </a:xfrm>
          <a:prstGeom prst="line">
            <a:avLst/>
          </a:prstGeom>
          <a:noFill/>
          <a:ln w="12700">
            <a:solidFill>
              <a:srgbClr val="DC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63276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8C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foundation everything else in this pitch stands on.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9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Should Your First Dollar Go?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85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property types outperform saturated mainstream listings</a:t>
            </a:r>
            <a:endParaRPr lang="en-US" sz="1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94360" y="1737360"/>
          <a:ext cx="64008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737360"/>
            <a:ext cx="4160520" cy="2011680"/>
          </a:xfrm>
          <a:prstGeom prst="rect">
            <a:avLst/>
          </a:prstGeom>
          <a:solidFill>
            <a:srgbClr val="4F7A6E"/>
          </a:solidFill>
          <a:ln/>
        </p:spPr>
      </p:sp>
      <p:sp>
        <p:nvSpPr>
          <p:cNvPr id="6" name="Text 3"/>
          <p:cNvSpPr/>
          <p:nvPr/>
        </p:nvSpPr>
        <p:spPr>
          <a:xfrm>
            <a:off x="7754112" y="1901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— UNDER-SUPPLIED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754112" y="22128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Guesthouse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54112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4.92★   ·   22 listings   ·   412 avg. reviews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54112" y="3063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C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demand, low supply — proven, room to grow.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092440" y="3977640"/>
            <a:ext cx="3429000" cy="1600200"/>
          </a:xfrm>
          <a:prstGeom prst="rect">
            <a:avLst/>
          </a:prstGeom>
          <a:solidFill>
            <a:srgbClr val="EDE7DE"/>
          </a:solidFill>
          <a:ln/>
        </p:spPr>
      </p:sp>
      <p:sp>
        <p:nvSpPr>
          <p:cNvPr id="11" name="Text 8"/>
          <p:cNvSpPr/>
          <p:nvPr/>
        </p:nvSpPr>
        <p:spPr>
          <a:xfrm>
            <a:off x="8348472" y="41330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8C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SATURATED — MAINSTREAM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348472" y="440740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9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Apartment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8348472" y="47914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9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4.77★   ·   105 listings   ·   208 avg. reviews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 rot="5400000">
            <a:off x="7498080" y="5806440"/>
            <a:ext cx="201168" cy="201168"/>
          </a:xfrm>
          <a:prstGeom prst="triangle">
            <a:avLst/>
          </a:prstGeom>
          <a:solidFill>
            <a:srgbClr val="B8563B"/>
          </a:solidFill>
          <a:ln/>
        </p:spPr>
      </p:sp>
      <p:sp>
        <p:nvSpPr>
          <p:cNvPr id="15" name="Text 12"/>
          <p:cNvSpPr/>
          <p:nvPr/>
        </p:nvSpPr>
        <p:spPr>
          <a:xfrm>
            <a:off x="7818120" y="57424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9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where demand already outpaces supply.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9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Picture, Before Narrowing Down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85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listing across U.S. cities, before any reliability filtering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91640"/>
          <a:ext cx="4937760" cy="3127248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($)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953.00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953.00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953.00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171.36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187.92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141.66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185.39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266.00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1463.00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1239.00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80644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8C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CITIES BY AVERAGE PRICE</a:t>
            </a:r>
            <a:endParaRPr lang="en-US" sz="10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2011680"/>
          <a:ext cx="5486400" cy="21945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Malibu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85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5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5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6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$464.67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85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5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5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6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85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5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5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6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85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5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5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6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85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5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5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6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Oceanside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5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$341.50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5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5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5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5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Vero Beach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$289.50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216.0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$257.00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Miami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$248.33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286.0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9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3"/>
          <p:cNvSpPr/>
          <p:nvPr/>
        </p:nvSpPr>
        <p:spPr>
          <a:xfrm>
            <a:off x="594360" y="5897880"/>
            <a:ext cx="11064240" cy="0"/>
          </a:xfrm>
          <a:prstGeom prst="line">
            <a:avLst/>
          </a:prstGeom>
          <a:noFill/>
          <a:ln w="12700">
            <a:solidFill>
              <a:srgbClr val="DCD3C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4360" y="60533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300" i="1" dirty="0">
                <a:solidFill>
                  <a:srgbClr val="8C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Malibu leads on price and is the only city here with enough listings (n=6) to trust the number — an early signal the next slides confirm from two independent angles.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9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Price, Rating and Demand Move Together?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85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correlation check before committing to specific cities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94360" y="20116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C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↔ RATING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233172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8C80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0.03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94360" y="33375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9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relationship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389120" y="20116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C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↔ DEMAND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0" y="233172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8C80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–0.15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389120" y="33375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9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weak, negative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55280" y="1783080"/>
            <a:ext cx="3657600" cy="1965960"/>
          </a:xfrm>
          <a:prstGeom prst="rect">
            <a:avLst/>
          </a:prstGeom>
          <a:solidFill>
            <a:srgbClr val="EBF1EE"/>
          </a:solidFill>
          <a:ln/>
        </p:spPr>
      </p:sp>
      <p:sp>
        <p:nvSpPr>
          <p:cNvPr id="11" name="Text 9"/>
          <p:cNvSpPr/>
          <p:nvPr/>
        </p:nvSpPr>
        <p:spPr>
          <a:xfrm>
            <a:off x="8183880" y="20116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C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↔ DEMAND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83880" y="233172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4F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0.30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183880" y="33375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9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link — still moderate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4114800"/>
            <a:ext cx="11064240" cy="0"/>
          </a:xfrm>
          <a:prstGeom prst="line">
            <a:avLst/>
          </a:prstGeom>
          <a:noFill/>
          <a:ln w="12700">
            <a:solidFill>
              <a:srgbClr val="DCD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297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Takeaway. </a:t>
            </a:r>
            <a:r>
              <a:rPr lang="en-US" sz="1400" dirty="0">
                <a:solidFill>
                  <a:srgbClr val="8C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doesn't mean price is unimportant to our investor — it means price alone can't tell you which listings are worth it. That's exactly the gap the rest of this pitch closes.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9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Prices Run Highest Across the 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85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Malibu tops the list — even before applying a reliability filter</a:t>
            </a:r>
            <a:endParaRPr lang="en-US" sz="1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94360" y="1737360"/>
          <a:ext cx="110642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9601200" y="1874520"/>
            <a:ext cx="2057400" cy="566928"/>
          </a:xfrm>
          <a:prstGeom prst="rect">
            <a:avLst/>
          </a:prstGeom>
          <a:solidFill>
            <a:srgbClr val="B8563B"/>
          </a:solidFill>
          <a:ln/>
        </p:spPr>
      </p:sp>
      <p:sp>
        <p:nvSpPr>
          <p:cNvPr id="6" name="Text 3"/>
          <p:cNvSpPr/>
          <p:nvPr/>
        </p:nvSpPr>
        <p:spPr>
          <a:xfrm>
            <a:off x="9692640" y="18745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+36% vs. next-highest city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4360" y="5989320"/>
            <a:ext cx="11064240" cy="0"/>
          </a:xfrm>
          <a:prstGeom prst="line">
            <a:avLst/>
          </a:prstGeom>
          <a:noFill/>
          <a:ln w="12700">
            <a:solidFill>
              <a:srgbClr val="DCD3C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614476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29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r>
              <a:rPr lang="en-US" sz="1350" i="1" dirty="0">
                <a:solidFill>
                  <a:srgbClr val="8C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a ≥5-listing reliability filter to confirm which of these numbers we can actually trust.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9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Data Say Bet, Now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85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reliability filter narrows the U.S. market to one clear leader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9436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Methodology.  </a:t>
            </a:r>
            <a:r>
              <a:rPr lang="en-US" sz="1300" dirty="0">
                <a:solidFill>
                  <a:srgbClr val="8C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Requiring at least 5 listings per city filters out one-off outliers. Only two U.S. cities clear that bar — Malibu and Miami Beach.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2240280"/>
            <a:ext cx="5486400" cy="2148840"/>
          </a:xfrm>
          <a:prstGeom prst="rect">
            <a:avLst/>
          </a:prstGeom>
          <a:solidFill>
            <a:srgbClr val="B856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4320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$110,621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4E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ANNUAL REVENUE PER LISTING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257800" y="3931920"/>
            <a:ext cx="3108960" cy="1280160"/>
          </a:xfrm>
          <a:prstGeom prst="rect">
            <a:avLst/>
          </a:prstGeom>
          <a:solidFill>
            <a:srgbClr val="4F7A6E"/>
          </a:solidFill>
          <a:ln/>
        </p:spPr>
      </p:sp>
      <p:sp>
        <p:nvSpPr>
          <p:cNvPr id="9" name="Text 7"/>
          <p:cNvSpPr/>
          <p:nvPr/>
        </p:nvSpPr>
        <p:spPr>
          <a:xfrm>
            <a:off x="5532120" y="4160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+14.5%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532120" y="46817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3E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GROWTH, YoY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54964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B85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8549640" y="28346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9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~130 hotel rooms service Malibu's 21-mile coastline.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549640" y="4069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 Coastal Commission, Staff Report F10a, 2022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5486400"/>
            <a:ext cx="11064240" cy="0"/>
          </a:xfrm>
          <a:prstGeom prst="line">
            <a:avLst/>
          </a:prstGeom>
          <a:noFill/>
          <a:ln w="12700">
            <a:solidFill>
              <a:srgbClr val="DCD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56509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9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Scarce hotel supply pushes real, government-documented demand toward short-term rentals — not a fad, a structural gap in the market.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9436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AirROI, Malibu Market Data (Aug 2025–Jul 2026, trailing 12 months)  ·  CA Coastal Commission Staff Report F10a (2022)  ·  malibucity.org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9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Next: 21 Hidden Gems Still Flying Under the Radar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113385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D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quality, virtually undiscovered — early evidence for a future international expansion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538460" y="297180"/>
            <a:ext cx="960120" cy="960120"/>
          </a:xfrm>
          <a:prstGeom prst="ellipse">
            <a:avLst/>
          </a:prstGeom>
          <a:ln w="12700">
            <a:solidFill>
              <a:srgbClr val="AD7A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89336" y="448056"/>
            <a:ext cx="658368" cy="658368"/>
          </a:xfrm>
          <a:prstGeom prst="ellipse">
            <a:avLst/>
          </a:prstGeom>
          <a:ln w="12700">
            <a:solidFill>
              <a:srgbClr val="AD7A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35640" y="594360"/>
            <a:ext cx="365760" cy="365760"/>
          </a:xfrm>
          <a:prstGeom prst="ellipse">
            <a:avLst/>
          </a:prstGeom>
          <a:ln w="17780">
            <a:solidFill>
              <a:srgbClr val="AD7A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64824" y="576072"/>
            <a:ext cx="82296" cy="82296"/>
          </a:xfrm>
          <a:prstGeom prst="ellipse">
            <a:avLst/>
          </a:prstGeom>
          <a:solidFill>
            <a:srgbClr val="AD7A28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920240"/>
            <a:ext cx="1371600" cy="457200"/>
          </a:xfrm>
          <a:prstGeom prst="rect">
            <a:avLst/>
          </a:prstGeom>
          <a:solidFill>
            <a:srgbClr val="B8563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20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5146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9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Kecamatan Ubud, Indonesia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60" y="31089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85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$29/night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94360" y="36576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5.0★  ·  9 reviews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1920240"/>
            <a:ext cx="1371600" cy="457200"/>
          </a:xfrm>
          <a:prstGeom prst="rect">
            <a:avLst/>
          </a:prstGeom>
          <a:solidFill>
            <a:srgbClr val="4F7A6E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1920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0" y="25146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9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Kadıköy, Turkey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389120" y="31089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$34/night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389120" y="36576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5.0★  ·  3 reviews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83880" y="1920240"/>
            <a:ext cx="1371600" cy="457200"/>
          </a:xfrm>
          <a:prstGeom prst="rect">
            <a:avLst/>
          </a:prstGeom>
          <a:solidFill>
            <a:srgbClr val="AD7A28"/>
          </a:solidFill>
          <a:ln/>
        </p:spPr>
      </p:sp>
      <p:sp>
        <p:nvSpPr>
          <p:cNvPr id="19" name="Text 17"/>
          <p:cNvSpPr/>
          <p:nvPr/>
        </p:nvSpPr>
        <p:spPr>
          <a:xfrm>
            <a:off x="8183880" y="1920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183880" y="25146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9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Roviano, Italy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183880" y="31089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D7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$61/night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183880" y="36576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5.0★  ·  8 reviews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" y="4251960"/>
            <a:ext cx="11064240" cy="0"/>
          </a:xfrm>
          <a:prstGeom prst="line">
            <a:avLst/>
          </a:prstGeom>
          <a:noFill/>
          <a:ln w="12700">
            <a:solidFill>
              <a:srgbClr val="DCD3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805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barely tracks quality in this market (r = 0.17). </a:t>
            </a:r>
            <a:r>
              <a:rPr lang="en-US" sz="1400" dirty="0">
                <a:solidFill>
                  <a:srgbClr val="8C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listings are underpriced by oversight, not by merit — exactly the gap a marketing push can close before the market catches on.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4360" y="5349240"/>
            <a:ext cx="11064240" cy="0"/>
          </a:xfrm>
          <a:prstGeom prst="line">
            <a:avLst/>
          </a:prstGeom>
          <a:noFill/>
          <a:ln w="12700">
            <a:solidFill>
              <a:srgbClr val="DCD3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C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early candidates for a future Phase 2 expansion — once Phase 1 in the U.S. proves out.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94360" y="5989320"/>
            <a:ext cx="201168" cy="201168"/>
          </a:xfrm>
          <a:prstGeom prst="rect">
            <a:avLst/>
          </a:prstGeom>
          <a:solidFill>
            <a:srgbClr val="4F7A6E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59253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4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INTERNATIONAL EXPANSION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365760"/>
            <a:ext cx="3291840" cy="7589520"/>
          </a:xfrm>
          <a:prstGeom prst="parallelogram">
            <a:avLst/>
          </a:prstGeom>
          <a:solidFill>
            <a:srgbClr val="B8563B"/>
          </a:solidFill>
          <a:ln/>
        </p:spPr>
      </p:sp>
      <p:sp>
        <p:nvSpPr>
          <p:cNvPr id="3" name="Shape 1"/>
          <p:cNvSpPr/>
          <p:nvPr/>
        </p:nvSpPr>
        <p:spPr>
          <a:xfrm rot="-5400000">
            <a:off x="182880" y="4892040"/>
            <a:ext cx="1463040" cy="1463040"/>
          </a:xfrm>
          <a:prstGeom prst="triangle">
            <a:avLst/>
          </a:prstGeom>
          <a:solidFill>
            <a:srgbClr val="4F7A6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0" y="54864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0" y="932688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9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phases. One clear place to start.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0" y="18288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5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429000" y="18288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 in under-supplied niches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29000" y="2157984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Guesthouse, Dome, Guest suite — proven demand, room to grow.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0" y="26700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29000" y="267004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to Malibu, now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9000" y="299923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U.S. market where the numbers hold up — $110,621/yr, +14.5% growth, backed by an official state report.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351129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D7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29000" y="3511296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the 21 hidden gems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9000" y="38404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signal for a Phase 2 international expansion, once Malibu proves out.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0" y="4434840"/>
            <a:ext cx="8778240" cy="0"/>
          </a:xfrm>
          <a:prstGeom prst="line">
            <a:avLst/>
          </a:prstGeom>
          <a:noFill/>
          <a:ln w="12700">
            <a:solidFill>
              <a:srgbClr val="DCD3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459028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8C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0" y="486460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9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Angelica showed us earlier, mapping listings geographically is a natural next step — to visualize where Phase 2 opportunities cluster.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0" y="5532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9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2743200" y="5943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Angélica Roa   ·   Kseniia Lukhlina   ·   Lara Caçador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1028</Words>
  <Application>Microsoft Office PowerPoint</Application>
  <PresentationFormat>Panorámica</PresentationFormat>
  <Paragraphs>200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LEIDY ROA</cp:lastModifiedBy>
  <cp:revision>1</cp:revision>
  <dcterms:created xsi:type="dcterms:W3CDTF">2026-08-14T07:54:42Z</dcterms:created>
  <dcterms:modified xsi:type="dcterms:W3CDTF">2026-08-14T15:51:03Z</dcterms:modified>
</cp:coreProperties>
</file>